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Relationship Id="rId3" Type="http://schemas.openxmlformats.org/officeDocument/2006/relationships/image" Target="../media/image6.pn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Relationship Id="rId3" Type="http://schemas.openxmlformats.org/officeDocument/2006/relationships/image" Target="../media/image8.pn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SEEG/WEB 文献综述</a:t>
            </a:r>
            <a:endParaRPr lang="zh-CN" sz="3000"/>
          </a:p>
        </p:txBody>
      </p:sp>
      <p:sp>
        <p:nvSpPr>
          <p:cNvPr id="3" name="Subtitle"/>
          <p:cNvSpPr txBox="1"/>
          <p:nvPr/>
        </p:nvSpPr>
        <p:spPr>
          <a:xfrm>
            <a:off x="685800" y="1024128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300" dirty="0">
                <a:solidFill>
                  <a:srgbClr val="607080"/>
                </a:solidFill>
                <a:latin typeface="Microsoft YaHei"/>
                <a:ea typeface="Microsoft YaHei"/>
              </a:rPr>
              <a:t>从发作动力学到 VEP、AI 和多模态验证</a:t>
            </a:r>
            <a:endParaRPr lang="zh-CN" sz="13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主线：从“找一个点”转向“解释一个网络”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证据层：SEEG、MRI/DTI、fMRI、MEG、网络科学、神经质量模型、AI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目标：辅助 EZ/EZN 判断和干预方案讨论，不替代临床判读</a:t>
            </a:r>
            <a:endParaRPr 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阅读地图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理论底座：seizure dynamics / Epileptor 给出发作状态转换语言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个体化模型：VEP 把结构连接、区域动力学和 SEEG 观测统一起来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临床预测：RFTC-coupled NMM 与 DeepEZ 分别代表生理模型和数据驱动路线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多模态验证：同步 SEEG-EEG / SEEG-MEG 拆解局灶-广泛性耦合</a:t>
            </a:r>
            <a:endParaRPr lang="zh-CN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发作动力学：先有理论语言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Jirsa 2014：发作可理解为动力系统从 interictal state 进入 ictal state 的转换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Epileptor 用快、中、慢时间尺度组织快速放电、spike-wave 和复发控制变量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Stacey 2020：功能连接、图指标和控制理论可作为 EEG/SEEG 读片的补充证据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限制：网络指标不能单独替代 SOZ/EZ 判断</a:t>
            </a:r>
            <a:endParaRPr lang="zh-CN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Bayesian VEP：把影像、模型和 SEEG 约束放进闭环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47548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MRI/DTI 构建个体结构网络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Epileptor / neural mass model 放在脑区节点上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SEEG/MEG/fMRI 等经验观测约束模型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NUTS/ADVI 推断 epileptogenicity map 和不确定性</a:t>
            </a:r>
            <a:endParaRPr lang="zh-CN" sz="1800"/>
          </a:p>
        </p:txBody>
      </p:sp>
      <p:pic>
        <p:nvPicPr>
          <p:cNvPr id="5" name="s2-hashemi-2020-fig1-bvep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17049"/>
            <a:ext cx="5989320" cy="3014758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623560" y="5394960"/>
            <a:ext cx="5989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900" dirty="0">
                <a:solidFill>
                  <a:srgbClr val="607080"/>
                </a:solidFill>
                <a:latin typeface="Microsoft YaHei"/>
                <a:ea typeface="Microsoft YaHei"/>
              </a:rPr>
              <a:t>Hashemi 2020 Fig. 1, CC BY-NC-ND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VEP 不是拟合曲线，而是比较传播假设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47548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Jirsa 2017：同一患者不同发作类型可对应不同传播路径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模型要解释简单发作、复杂发作和刺激诱发发作的差异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临床意义：把“切哪里可能阻断传播”变成可讨论、可复盘的网络假设</a:t>
            </a:r>
            <a:endParaRPr lang="zh-CN" sz="1800"/>
          </a:p>
        </p:txBody>
      </p:sp>
      <p:pic>
        <p:nvPicPr>
          <p:cNvPr id="5" name="s7-jirsa-2017-fig2-seeg-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787" y="1325880"/>
            <a:ext cx="5127426" cy="452628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715000" y="5879592"/>
            <a:ext cx="5715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900" dirty="0">
                <a:solidFill>
                  <a:srgbClr val="607080"/>
                </a:solidFill>
                <a:latin typeface="Microsoft YaHei"/>
                <a:ea typeface="Microsoft YaHei"/>
              </a:rPr>
              <a:t>Jirsa 2017 Fig. 2, CC BY-NC-ND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临床 VEP：从病例建模走向 workflow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Wang 2023：T1/DWI + SEEG + 模型反演 + 机器学习 + 虚拟手术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回顾性 53 例 drug-resistant focal epilepsy，用个体化模型估计 EZN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seizure-free 患者的虚拟手术 false discovery rate 更低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Proix 2017 提醒：个体结构连接有价值，但不会自动解决预测问题</a:t>
            </a:r>
            <a:endParaRPr lang="zh-CN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RFTC 预测：SEEG-PDC-coupled NMM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47548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从多通道 SEEG 估计 PDC coupling matrix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用 coupled neural mass model 拟合真实 SEEG 信号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虚拟移除临床热凝 contacts 或随机 contacts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比较 postoperative simulated signals 的 peak frequency</a:t>
            </a:r>
            <a:endParaRPr lang="zh-CN" sz="1800"/>
          </a:p>
        </p:txBody>
      </p:sp>
      <p:pic>
        <p:nvPicPr>
          <p:cNvPr id="5" name="s4-cai-2024-fig1-coupled-nmm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06263"/>
            <a:ext cx="5669280" cy="4382634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715000" y="5879592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900" dirty="0">
                <a:solidFill>
                  <a:srgbClr val="607080"/>
                </a:solidFill>
                <a:latin typeface="Microsoft YaHei"/>
                <a:ea typeface="Microsoft YaHei"/>
              </a:rPr>
              <a:t>Cai 2024 Fig. 1, CC BY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DeepEZ：非侵入式 connectivity 到 EZ 分类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47548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输入：resting-state fMRI parcellation 后的 connectivity matrix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模型：GCN + subject-specific detection bias + 对侧/同侧约束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小样本结果：accuracy 约 0.88，AUC 约 0.73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定位：候选区域生成和覆盖规划辅助，而不是单独决定手术边界</a:t>
            </a:r>
            <a:endParaRPr lang="zh-CN" sz="1800"/>
          </a:p>
        </p:txBody>
      </p:sp>
      <p:pic>
        <p:nvPicPr>
          <p:cNvPr id="5" name="s3-deepez-fig2-model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9853"/>
            <a:ext cx="5989320" cy="2009574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0" y="3867912"/>
            <a:ext cx="5989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900" dirty="0">
                <a:solidFill>
                  <a:srgbClr val="607080"/>
                </a:solidFill>
                <a:latin typeface="Microsoft YaHei"/>
                <a:ea typeface="Microsoft YaHei"/>
              </a:rPr>
              <a:t>Nandakumar 2023 Fig. 2, CC BY 4.0</a:t>
            </a:r>
            <a:endParaRPr lang="zh-CN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AI 转化：不只是模型分数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Lucas 2024：AI 可整合 EEG、MRI、PET、EHR、device data 等多模态数据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关键问题：标注质量、样本偏倚、中心效应、解释性、监管路径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术前评估中的合理位置：证据分层和假设生成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需要前瞻、多中心和真实工作流验证</a:t>
            </a:r>
            <a:endParaRPr lang="zh-CN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多模态病例：局灶与广泛性可以耦合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47548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Aung 2026：左额 MCD + 3 Hz generalized spike-wave 病史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同步 SEEG-scalp EEG：双侧额叶和丘脑参与，MCD 区无自发 focal IED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刺激 MCD 邻近 contacts 可诱发局部 afterdischarge 和后续广泛网络参与</a:t>
            </a:r>
            <a:endParaRPr lang="zh-CN" sz="1800"/>
          </a:p>
        </p:txBody>
      </p:sp>
      <p:pic>
        <p:nvPicPr>
          <p:cNvPr id="5" name="aung-2026-fig1-phase-i-seeg-e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00981"/>
            <a:ext cx="2743200" cy="191887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577840" y="55138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900" dirty="0">
                <a:solidFill>
                  <a:srgbClr val="607080"/>
                </a:solidFill>
                <a:latin typeface="Microsoft YaHei"/>
                <a:ea typeface="Microsoft YaHei"/>
              </a:rPr>
              <a:t>Aung 2026 Fig. 1</a:t>
            </a:r>
            <a:endParaRPr lang="zh-CN" sz="900"/>
          </a:p>
        </p:txBody>
      </p:sp>
      <p:pic>
        <p:nvPicPr>
          <p:cNvPr id="7" name="aung-2026-fig2a-seeg-meg-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437" y="1234440"/>
            <a:ext cx="2574725" cy="425196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8458200" y="55138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900" dirty="0">
                <a:solidFill>
                  <a:srgbClr val="607080"/>
                </a:solidFill>
                <a:latin typeface="Microsoft YaHei"/>
                <a:ea typeface="Microsoft YaHei"/>
              </a:rPr>
              <a:t>Aung 2026 Fig. 2A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同一病例需要多张图连起来看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47548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Figure 2A 标记同一 GSW 内部连续峰值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Figure 2B-D：早期以后部皮层为主，随后左额和额顶招募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Figure 2E-G：后期出现更广泛双侧网络传播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解释：GSW 不是静态全脑标签，而是毫秒级传播事件</a:t>
            </a:r>
            <a:endParaRPr lang="zh-CN" sz="1800"/>
          </a:p>
        </p:txBody>
      </p:sp>
      <p:pic>
        <p:nvPicPr>
          <p:cNvPr id="5" name="aung-2026-fig2b-d-source-loc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986636"/>
            <a:ext cx="2834640" cy="302188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532120" y="56967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900" dirty="0">
                <a:solidFill>
                  <a:srgbClr val="607080"/>
                </a:solidFill>
                <a:latin typeface="Microsoft YaHei"/>
                <a:ea typeface="Microsoft YaHei"/>
              </a:rPr>
              <a:t>Aung 2026 Fig. 2B-D</a:t>
            </a:r>
            <a:endParaRPr lang="zh-CN" sz="900"/>
          </a:p>
        </p:txBody>
      </p:sp>
      <p:pic>
        <p:nvPicPr>
          <p:cNvPr id="7" name="aung-2026-fig2e-g-source-loc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44655"/>
            <a:ext cx="2834640" cy="350585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8458200" y="56967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900" dirty="0">
                <a:solidFill>
                  <a:srgbClr val="607080"/>
                </a:solidFill>
                <a:latin typeface="Microsoft YaHei"/>
                <a:ea typeface="Microsoft YaHei"/>
              </a:rPr>
              <a:t>Aung 2026 Fig. 2E-G</a:t>
            </a:r>
            <a:endParaRPr lang="zh-CN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"/>
          <p:cNvSpPr/>
          <p:nvPr/>
        </p:nvSpPr>
        <p:spPr>
          <a:xfrm>
            <a:off x="0" y="0"/>
            <a:ext cx="12192000" cy="74000"/>
          </a:xfrm>
          <a:prstGeom prst="rect">
            <a:avLst/>
          </a:prstGeom>
          <a:solidFill>
            <a:srgbClr val="2BB673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000" dirty="0">
                <a:b/>
                <a:solidFill>
                  <a:srgbClr val="111827"/>
                </a:solidFill>
                <a:latin typeface="Microsoft YaHei"/>
                <a:ea typeface="Microsoft YaHei"/>
              </a:rPr>
              <a:t>Takeaways</a:t>
            </a:r>
            <a:endParaRPr lang="zh-CN" sz="3000"/>
          </a:p>
        </p:txBody>
      </p:sp>
      <p:sp>
        <p:nvSpPr>
          <p:cNvPr id="4" name="Bullets"/>
          <p:cNvSpPr txBox="1"/>
          <p:nvPr/>
        </p:nvSpPr>
        <p:spPr>
          <a:xfrm>
            <a:off x="685800" y="1572768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SEEG 是时间轴：连接症状、结构病灶、深部网络和干预结果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VEP/神经质量模型适合解释传播和虚拟干预，不适合孤立当作 SOZ 答案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AI 适合从非侵入式数据生成候选假设，需要外部验证和临床工作流验证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多模态同步记录能拆解 focal-generalized 二分背后的网络耦合</a:t>
            </a:r>
            <a:endParaRPr lang="zh-CN" sz="1800"/>
          </a:p>
          <a:p>
            <a:r>
              <a:rPr lang="zh-CN" sz="1800" dirty="0">
                <a:solidFill>
                  <a:srgbClr val="24313D"/>
                </a:solidFill>
                <a:latin typeface="Microsoft YaHei"/>
                <a:ea typeface="Microsoft YaHei"/>
              </a:rPr>
              <a:t>• 最稳妥的落地方式：模型输出必须回到 SEEG 时序、影像和术后结果中校验</a:t>
            </a:r>
            <a:endParaRPr lang="zh-CN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EG">
  <a:themeElements>
    <a:clrScheme name="SEEG">
      <a:dk1>
        <a:srgbClr val="111827"/>
      </a:dk1>
      <a:lt1>
        <a:srgbClr val="FFFFFF"/>
      </a:lt1>
      <a:dk2>
        <a:srgbClr val="24313D"/>
      </a:dk2>
      <a:lt2>
        <a:srgbClr val="F5F7FA"/>
      </a:lt2>
      <a:accent1>
        <a:srgbClr val="2BB673"/>
      </a:accent1>
      <a:accent2>
        <a:srgbClr val="3A7BD5"/>
      </a:accent2>
      <a:accent3>
        <a:srgbClr val="D976A5"/>
      </a:accent3>
      <a:accent4>
        <a:srgbClr val="F0B429"/>
      </a:accent4>
      <a:accent5>
        <a:srgbClr val="8B5CF6"/>
      </a:accent5>
      <a:accent6>
        <a:srgbClr val="14B8A6"/>
      </a:accent6>
      <a:hlink>
        <a:srgbClr val="2563EB"/>
      </a:hlink>
      <a:folHlink>
        <a:srgbClr val="7C3AED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Builder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12</vt:i4>
      </vt:variant>
    </vt:vector>
  </HeadingPairs>
  <TitlesOfParts>
    <vt:vector size="12" baseType="lpstr">
      <vt:lpstr>SEEG/WEB 文献综述</vt:lpstr>
      <vt:lpstr>阅读地图</vt:lpstr>
      <vt:lpstr>发作动力学：先有理论语言</vt:lpstr>
      <vt:lpstr>Bayesian VEP：把影像、模型和 SEEG 约束放进闭环</vt:lpstr>
      <vt:lpstr>VEP 不是拟合曲线，而是比较传播假设</vt:lpstr>
      <vt:lpstr>临床 VEP：从病例建模走向 workflow</vt:lpstr>
      <vt:lpstr>RFTC 预测：SEEG-PDC-coupled NMM</vt:lpstr>
      <vt:lpstr>DeepEZ：非侵入式 connectivity 到 EZ 分类</vt:lpstr>
      <vt:lpstr>AI 转化：不只是模型分数</vt:lpstr>
      <vt:lpstr>多模态病例：局灶与广泛性可以耦合</vt:lpstr>
      <vt:lpstr>同一病例需要多张图连起来看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SEEG/WEB 文献综述</dc:title>
  <dc:creator>Codex</dc:creator>
  <cp:lastModifiedBy>Codex</cp:lastModifiedBy>
  <dcterms:created xsi:type="dcterms:W3CDTF">2026-05-18T06:50:55Z</dcterms:created>
  <dcterms:modified xsi:type="dcterms:W3CDTF">2026-05-18T06:50:55Z</dcterms:modified>
</cp:coreProperties>
</file>